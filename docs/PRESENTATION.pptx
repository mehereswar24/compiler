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2^3^2 example: most people say 64, correct is 512. This is why precedence must come from a grammar, not ad-hoc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Lex/Yacc are the 1975 origin of Flex/Bison. Floyd and Aho-Johnson-Ullman justify the ambiguous expr rule plus precedence.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first three boxes are what is implemented for Review 1; the grey ones are the next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./arithc.exe tests/t4_demo.ac. Each chip is one token; colour = token class; the number on the left is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bottom-up: b*2 is evaluated first, then a+(b*2), 4/2 on the other side, and the subtraction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2^3^2 nests to the right. Right: three bad lines, all reported, parsing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25% milestone = language + lexer + grammar + parse tree. Everything after phase 3 is planned,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questions: why LALR over LL; why is ^ above unary minus; how does Bison resolve conflicts; why TAC; what does panic mode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Compiler for an Arithmetic Expression Language</a:t>
            </a:r>
          </a:p>
          <a:p>
            <a:pPr>
              <a:defRPr sz="2800">
                <a:solidFill>
                  <a:srgbClr val="9FD8D8"/>
                </a:solidFill>
              </a:defRPr>
            </a:pPr>
            <a:r>
              <a:t>using Lex/Flex and Yacc/Bison</a:t>
            </a:r>
          </a:p>
          <a:p>
            <a:pPr>
              <a:defRPr sz="2000">
                <a:solidFill>
                  <a:srgbClr val="DDE6F0"/>
                </a:solidFill>
              </a:defRPr>
            </a:pPr>
            <a:r>
              <a:t>Tokens  -&gt;  Parse tree  -&gt;  Semantic validation  -&gt;  Three Address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Review 1   |   Metlapalli Mehereswar (23BAI0138)  |  Team members: &lt;add names / reg. nos.&gt;</a:t>
            </a:r>
          </a:p>
          <a:p>
            <a:pPr>
              <a:defRPr sz="1600">
                <a:solidFill>
                  <a:srgbClr val="DDE6F0"/>
                </a:solidFill>
              </a:defRPr>
            </a:pPr>
            <a:r>
              <a:t>B.Tech CSE, VIT Vellore  |  Compiler Design  |  Faculty: &lt;add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Evaluating  a + b * 2 - 4 / 2  correctly needs the compiler phases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Ad-hoc evaluators break in four ways: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Precedence/associativity scattered in if-else:  2^3^2 must be 512, not 64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Errors found late or never: undeclared names, constant divide-by-zero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Silent int/float mixing changes meaning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No intermediate form -&gt; no optimisation, no retargeting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Need: a principled pipeline that rejects bad programs and emits machine-independent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949440"/>
                <a:gridCol w="1463040"/>
                <a:gridCol w="192024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Define a small arithmetic language (int, float, + - * / % ^, unary -, parentheses)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Grammar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Tokenise source with line numbers and lexical error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Flex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LALR(1) grammar, precedence resolution, build the parse tree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Bison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Symbol table, type inference, compile-time diagnostics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Three Address Code with temporaries, conversions, constant folding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 (1/2): Tools and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760720"/>
                <a:gridCol w="4572000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 used here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Aho, Lam, Sethi, Ullman - Compilers (Dragon Book), 2006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Phase structure, SDT, TAC, type rules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Lesk &amp; Schmidt - Lex,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Regex -&gt; DFA scanner (Flex)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Johnson - Yacc, 1975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LALR(1) generator + actions (Bison)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Levine - flex &amp; bison, 2009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Lexer/parser integration, error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[5]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Floyd - Operator precedence, 1963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Basis of %left / %right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Knuth - LR(k) translation, 1965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Theory of bottom-up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 (2/2): Resolution, IR and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760720"/>
                <a:gridCol w="457200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 used here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[7]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Aho &amp; Johnson - LR Parsing, 1974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LALR construction, conflicts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Aho, Johnson, Ullman - Ambiguous grammars,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Precedence resolves shift/reduce 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[9]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Cooper &amp; Torczon - Engineering a Compiler, 2011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IR design, folding, conversions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[10]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Appel - Modern Compiler Impl. in C, 1998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AST + symbol table in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[11]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Parr &amp; Quong - ANTLR, 1995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Top-down LL(k) alternative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Lattner &amp; Adve - LLVM, 2004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Where TAC/SSA IR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Gap: textbooks show phases separately. Goal here: one small pipeline where every phase can be run and observed.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Language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498079" cy="5120640"/>
          </a:xfrm>
          <a:prstGeom prst="rect">
            <a:avLst/>
          </a:prstGeom>
          <a:solidFill>
            <a:srgbClr val="F2F5F9"/>
          </a:solidFill>
          <a:ln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program -&gt; stmts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stmts   -&gt; stmts stmt | (empty)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stmt    -&gt; type ID ';'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type ID '=' expr ';'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ID '=' expr ';'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'print' expr ';'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error ';'                 (panic-mode recovery)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type    -&gt; 'int' | 'float'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expr    -&gt; expr ('+'|'-'|'*'|'/'|'%'|'^') expr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'-' expr | '+' expr | '(' expr ')'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        | INUM | FNUM | ID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 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Precedence (low -&gt; high):   + -   &lt;   * / %   &lt;   unary -   &lt;   ^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Associativity:              left for + - * / %,  right for ^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Types: int, float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Statements: declare, assign, print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Comments: // and /* */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Unary +/-, parentheses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Ambiguous expr rule + precedence declarations = compact grammar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Compiler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828800" cy="10972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Source</a:t>
            </a:r>
          </a:p>
          <a:p>
            <a:pPr algn="ctr">
              <a:defRPr sz="1700" b="1">
                <a:solidFill>
                  <a:srgbClr val="FFFFFF"/>
                </a:solidFill>
              </a:defRPr>
            </a:pPr>
            <a:r>
              <a:t>.ac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468880"/>
            <a:ext cx="365760" cy="32004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103120"/>
            <a:ext cx="1828800" cy="10972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Flex</a:t>
            </a:r>
          </a:p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Lexer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468880"/>
            <a:ext cx="365760" cy="32004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103120"/>
            <a:ext cx="1828800" cy="10972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Bison</a:t>
            </a:r>
          </a:p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Parser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468880"/>
            <a:ext cx="365760" cy="32004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103120"/>
            <a:ext cx="1828800" cy="1097280"/>
          </a:xfrm>
          <a:prstGeom prst="roundRect">
            <a:avLst/>
          </a:prstGeom>
          <a:solidFill>
            <a:srgbClr val="B5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Semantic</a:t>
            </a:r>
          </a:p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Analyser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2468880"/>
            <a:ext cx="365760" cy="32004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103120"/>
            <a:ext cx="1828800" cy="1097280"/>
          </a:xfrm>
          <a:prstGeom prst="roundRect">
            <a:avLst/>
          </a:prstGeom>
          <a:solidFill>
            <a:srgbClr val="B5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TAC</a:t>
            </a:r>
          </a:p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B66"/>
                </a:solidFill>
              </a:defRPr>
            </a:pPr>
            <a: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B66"/>
                </a:solidFill>
              </a:defRPr>
            </a:pPr>
            <a:r>
              <a:t>parse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91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B66"/>
                </a:solidFill>
              </a:defRPr>
            </a:pPr>
            <a:r>
              <a:t>typed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91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B66"/>
                </a:solidFill>
              </a:defRPr>
            </a:pPr>
            <a:r>
              <a:t>TAC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B66"/>
                </a:solidFill>
              </a:defRPr>
            </a:pPr>
            <a:r>
              <a:t>Teal = implemented for Review 1      Grey = 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Errors per phase: illegal character | syntax error (panic-mode recovery) | undeclared / type errors (planned)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Phase 1: Lexical Analysis (Flex)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Token 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Pattern / examples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int  float  print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Reserved words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[A-Za-z][A-Za-z0-9_]*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Variable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INT_LITERAL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[0-9]+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Integer constants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FLOAT_LITERAL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1.5   .5   2.   1e3   2.5E-2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Real constants, optional exponent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PLUS MINUS STAR SLASH PERCENT CARET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+  -  *  /  %  ^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Arithmetic operators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ASSIGN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LPAREN RPAREN SEMICOLON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(  )  ;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(skipped)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whitespace, // line, /* block */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Discarded by the lexer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Longest-match rule; keywords listed before IDENTIFIER; %option yylineno for line numbers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Unknown character -&gt; lexical error, scanning continues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Demo: Token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19" y="1280160"/>
            <a:ext cx="589788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9948" y="1280160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2868" y="1280160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5787" y="1280160"/>
            <a:ext cx="484632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59" y="1280160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1847088"/>
            <a:ext cx="589788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9948" y="1847088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2868" y="1847088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5787" y="1847088"/>
            <a:ext cx="411480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8707" y="1847088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5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19" y="2414015"/>
            <a:ext cx="800100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0260" y="2414015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3180" y="2414015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86100" y="2414015"/>
            <a:ext cx="589788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2.5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7328" y="2414015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80944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19" y="2980944"/>
            <a:ext cx="589788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69948" y="2980944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2868" y="2980944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75787" y="2980944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8707" y="2980944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1627" y="2980944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4547" y="2980944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*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87467" y="2980944"/>
            <a:ext cx="411480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0387" y="2980944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-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3307" y="2980944"/>
            <a:ext cx="411480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96227" y="2980944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9147" y="2980944"/>
            <a:ext cx="411480" cy="41148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2067" y="2980944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547872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19" y="3547872"/>
            <a:ext cx="800100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80260" y="3547872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83180" y="3547872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=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86100" y="3547872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9020" y="3547872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91939" y="3547872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(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94859" y="3547872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97779" y="3547872"/>
            <a:ext cx="411480" cy="41148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00699" y="3547872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03619" y="3547872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06539" y="3547872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11480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8719" y="4114800"/>
            <a:ext cx="800100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print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80260" y="4114800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83180" y="4114800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681727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892A3"/>
                </a:solidFill>
              </a:defRPr>
            </a:pPr>
            <a:r>
              <a:t>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88719" y="4681727"/>
            <a:ext cx="800100" cy="41148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print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80260" y="4681727"/>
            <a:ext cx="411480" cy="41148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83180" y="4681727"/>
            <a:ext cx="411480" cy="4114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;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88719" y="5385816"/>
            <a:ext cx="274320" cy="27432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08760" y="535838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B66"/>
                </a:solidFill>
              </a:defRPr>
            </a:pPr>
            <a:r>
              <a:t>keyword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39" y="5385816"/>
            <a:ext cx="274320" cy="27432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11879" y="535838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B66"/>
                </a:solidFill>
              </a:defRPr>
            </a:pPr>
            <a:r>
              <a:t>identifier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94959" y="5385816"/>
            <a:ext cx="274320" cy="27432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4999" y="535838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B66"/>
                </a:solidFill>
              </a:defRPr>
            </a:pPr>
            <a:r>
              <a:t>number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98079" y="5385816"/>
            <a:ext cx="274320" cy="27432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18119" y="535838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B66"/>
                </a:solidFill>
              </a:defRPr>
            </a:pPr>
            <a:r>
              <a:t>operator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5385816"/>
            <a:ext cx="274320" cy="27432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21240" y="5358384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B66"/>
                </a:solidFill>
              </a:defRPr>
            </a:pPr>
            <a:r>
              <a:t>punctuation / =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5B66"/>
                </a:solidFill>
              </a:defRPr>
            </a:pPr>
            <a:r>
              <a:t>45 tokens from 7 source lines (tests/t4_demo.ac)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Phase 2: Syntax Analysis (Bison)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LALR(1) grammar; actions call mk_bin / mk_int / mk_decl -&gt; tree built bottom-up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Precedence table resolves every shift/reduce conflict:</a:t>
            </a:r>
          </a:p>
          <a:p>
            <a:pPr lvl="1">
              <a:spcAft>
                <a:spcPts val="800"/>
              </a:spcAft>
              <a:defRPr sz="1600">
                <a:solidFill>
                  <a:srgbClr val="555B66"/>
                </a:solidFill>
              </a:defRPr>
            </a:pPr>
            <a:r>
              <a:t>- %left + -   &lt;   %left * / %   &lt;   %precedence UMINUS   &lt;   %right ^</a:t>
            </a:r>
          </a:p>
          <a:p>
            <a:pPr lvl="1">
              <a:spcAft>
                <a:spcPts val="800"/>
              </a:spcAft>
              <a:defRPr sz="1600">
                <a:solidFill>
                  <a:srgbClr val="555B66"/>
                </a:solidFill>
              </a:defRPr>
            </a:pPr>
            <a:r>
              <a:t>- Right-assoc ^:  2^3^2 = 2^(3^2) = 512;    -2^2 = -(2^2) = -4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Panic-mode recovery:  stmt -&gt; error ';'   reports all errors in one run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t>Bison builds with zero warnings and zero conflicts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Demo: Parse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onsolas"/>
              </a:defRPr>
            </a:pPr>
            <a:r>
              <a:t>int c = a + b * 2 - 4 / 2;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2194560"/>
            <a:ext cx="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377440" y="3090672"/>
            <a:ext cx="201168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280160" y="3986784"/>
            <a:ext cx="109728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77440" y="3986784"/>
            <a:ext cx="109728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43200" y="4882896"/>
            <a:ext cx="73152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74720" y="4882896"/>
            <a:ext cx="73152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3090672"/>
            <a:ext cx="201168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669280" y="3986784"/>
            <a:ext cx="73152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3986784"/>
            <a:ext cx="731520" cy="438912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16121" y="1737360"/>
            <a:ext cx="1345996" cy="457200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Decl int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6121" y="2633472"/>
            <a:ext cx="1345996" cy="45720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'-'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4441" y="3529584"/>
            <a:ext cx="1345996" cy="45720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'+'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" y="4425696"/>
            <a:ext cx="1345996" cy="45720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Var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1721" y="4425696"/>
            <a:ext cx="1345996" cy="45720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'*'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0201" y="5321808"/>
            <a:ext cx="1345996" cy="45720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Var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3241" y="5321808"/>
            <a:ext cx="1345996" cy="45720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7801" y="3529584"/>
            <a:ext cx="1345996" cy="457200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'/'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6281" y="4425696"/>
            <a:ext cx="1345996" cy="45720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59321" y="4425696"/>
            <a:ext cx="1345996" cy="457200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37160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* binds tighter than +, so b*2 is a subtree of +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- is left-associative: (a + b*2) - (4/2)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Leaves are tokens: variables and constants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Built by Bison actions while parsing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Demo: Associativity and Error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Consolas"/>
              </a:defRPr>
            </a:pPr>
            <a:r>
              <a:t>int p = 2 ^ 3 ^ 2;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2162556"/>
            <a:ext cx="0" cy="260604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371600" y="2848356"/>
            <a:ext cx="1234440" cy="260604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06040" y="2848356"/>
            <a:ext cx="1234440" cy="260604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17520" y="3534156"/>
            <a:ext cx="822960" cy="260604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3534156"/>
            <a:ext cx="822960" cy="260604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48916" y="1737360"/>
            <a:ext cx="1514246" cy="425196"/>
          </a:xfrm>
          <a:prstGeom prst="roundRect">
            <a:avLst/>
          </a:prstGeom>
          <a:solidFill>
            <a:srgbClr val="6A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Decl int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8916" y="2423160"/>
            <a:ext cx="1514246" cy="425196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'^'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" y="3108960"/>
            <a:ext cx="1514246" cy="425196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83356" y="3108960"/>
            <a:ext cx="1514246" cy="425196"/>
          </a:xfrm>
          <a:prstGeom prst="round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BinOp '^'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0396" y="3794760"/>
            <a:ext cx="1514246" cy="425196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6316" y="3794760"/>
            <a:ext cx="1514246" cy="425196"/>
          </a:xfrm>
          <a:prstGeom prst="roundRect">
            <a:avLst/>
          </a:prstGeom>
          <a:solidFill>
            <a:srgbClr val="8A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Second ^ is the RIGHT child: 2^(3^2) = 512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188720"/>
            <a:ext cx="5669280" cy="2194560"/>
          </a:xfrm>
          <a:prstGeom prst="rect">
            <a:avLst/>
          </a:prstGeom>
          <a:solidFill>
            <a:srgbClr val="F2F5F9"/>
          </a:solidFill>
          <a:ln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int a = 4;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int b = (a + ;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int c = a $ 2;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print a +* 2;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int d = a * 2;</a:t>
            </a:r>
          </a:p>
          <a:p>
            <a:pPr algn="l">
              <a:defRPr sz="1300">
                <a:solidFill>
                  <a:srgbClr val="1A1A1A"/>
                </a:solidFill>
                <a:latin typeface="Consolas"/>
              </a:defRPr>
            </a:pPr>
            <a:r>
              <a:t>print d;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566160"/>
            <a:ext cx="5669280" cy="2011680"/>
          </a:xfrm>
          <a:prstGeom prst="rect">
            <a:avLst/>
          </a:prstGeom>
          <a:solidFill>
            <a:srgbClr val="F2F5F9"/>
          </a:solidFill>
          <a:ln>
            <a:solidFill>
              <a:srgbClr val="CC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t>== Phase 1+2: lexing and parsing (diagnostics) ==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t>  line 2: error: syntax error, unexpected ';'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t>  line 3: error: lexical error: illegal character '$'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t>  line 3: error: syntax error, unexpected INUM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t>  line 4: error: syntax error, unexpected '*'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Review 1 Status and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589520"/>
                <a:gridCol w="2651760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Language definition, grammar, token 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Done - Review 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Flex lexer: token stream, line numbers, lexical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Done - Review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Bison parser: precedence, parse-tree construction, error recovery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Done - Review 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Symbol table and semantic validation (declarations, type checking, int/float rules, division by zero)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Planned - next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Three Address Code generation (temporaries, type conversions, constant folding)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Planned - next review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Testing of semantic and code-generation phases; final report and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Planned - final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Regression suite: 12/12 tests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Next Stage: Semantic Validation and TAC (planned)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Semantic validation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Symbol table; type inference with int -&gt; float promotion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Errors: undeclared variable, redeclaration, % on floats, constant division by zero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Warnings: use before assignment, float -&gt; int narrowing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Three Address Code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&lt;= 1 operator per instruction, temporaries _t1, _t2 ...</a:t>
            </a:r>
          </a:p>
          <a:p>
            <a:pPr lvl="1">
              <a:spcAft>
                <a:spcPts val="800"/>
              </a:spcAft>
              <a:defRPr sz="1700">
                <a:solidFill>
                  <a:srgbClr val="555B66"/>
                </a:solidFill>
              </a:defRPr>
            </a:pPr>
            <a:r>
              <a:t>- Explicit inttofloat / floattoint; constant folding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Review 1 delivered: language definition, Flex lexer, Bison parser, parse tree, error recovery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Precedence and right-associative ^ come from the grammar, not ad-hoc code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12/12 regression tests pass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Next: semantic validation, then Three Address Code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B66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Why Bison (LALR(1)) instead of a hand-written recursive-descent parser?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How does an ambiguous expr rule stay deterministic?   -&gt; precedence/associativity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Why Three Address Code?   -&gt; machine independent, optimisable, one operator per line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What does 'error ;' do?   -&gt; panic-mode: skip to the next ';' and resume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